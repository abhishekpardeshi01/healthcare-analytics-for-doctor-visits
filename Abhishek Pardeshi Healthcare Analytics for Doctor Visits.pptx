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7"/>
  </p:notesMasterIdLst>
  <p:handoutMasterIdLst>
    <p:handoutMasterId r:id="rId18"/>
  </p:handoutMasterIdLst>
  <p:sldIdLst>
    <p:sldId id="338" r:id="rId5"/>
    <p:sldId id="327" r:id="rId6"/>
    <p:sldId id="315" r:id="rId7"/>
    <p:sldId id="329" r:id="rId8"/>
    <p:sldId id="302" r:id="rId9"/>
    <p:sldId id="339" r:id="rId10"/>
    <p:sldId id="343" r:id="rId11"/>
    <p:sldId id="342" r:id="rId12"/>
    <p:sldId id="341" r:id="rId13"/>
    <p:sldId id="340" r:id="rId14"/>
    <p:sldId id="344" r:id="rId15"/>
    <p:sldId id="304"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67BBC5-90FB-0B4C-ED85-F72C7BA7CE4A}" v="1" dt="2022-06-06T12:10:26.22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10/4/2026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10/4/2026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10/4/2026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10/4/2026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10/4/2026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10/4/2026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10/4/2026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10/4/2026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4655976" y="4141999"/>
            <a:ext cx="7016620" cy="861497"/>
          </a:xfrm>
        </p:spPr>
        <p:txBody>
          <a:bodyPr>
            <a:normAutofit/>
          </a:bodyPr>
          <a:lstStyle/>
          <a:p>
            <a:r>
              <a:rPr lang="en-US" b="0" dirty="0">
                <a:solidFill>
                  <a:schemeClr val="tx1"/>
                </a:solidFill>
              </a:rPr>
              <a:t>AICTE Student Id- </a:t>
            </a:r>
            <a:r>
              <a:rPr lang="en-IN" dirty="0"/>
              <a:t> STU69de8610658df1776190992</a:t>
            </a:r>
          </a:p>
          <a:p>
            <a:r>
              <a:rPr lang="en-IN" b="0" dirty="0">
                <a:solidFill>
                  <a:schemeClr val="tx1"/>
                </a:solidFill>
              </a:rPr>
              <a:t>Name- Abhishek Pardeshi</a:t>
            </a: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4655976" y="2920481"/>
            <a:ext cx="6655615" cy="989045"/>
          </a:xfrm>
        </p:spPr>
        <p:txBody>
          <a:bodyPr>
            <a:normAutofit/>
          </a:bodyPr>
          <a:lstStyle/>
          <a:p>
            <a:r>
              <a:rPr lang="en-GB" sz="3200" dirty="0"/>
              <a:t>Healthcare Analytics Doctor Visits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754602" y="1884784"/>
            <a:ext cx="6723158" cy="3598759"/>
          </a:xfrm>
        </p:spPr>
        <p:txBody>
          <a:bodyPr>
            <a:normAutofit/>
          </a:bodyPr>
          <a:lstStyle/>
          <a:p>
            <a:r>
              <a:rPr lang="en-IN" sz="1600" dirty="0"/>
              <a:t>To </a:t>
            </a:r>
            <a:r>
              <a:rPr lang="en-IN" sz="1600" dirty="0" err="1"/>
              <a:t>analyze</a:t>
            </a:r>
            <a:r>
              <a:rPr lang="en-IN" sz="1600" dirty="0"/>
              <a:t> the </a:t>
            </a:r>
            <a:r>
              <a:rPr lang="en-IN" sz="1600" b="1" dirty="0"/>
              <a:t>Healthcare Analytics for Doctor Visits</a:t>
            </a:r>
            <a:r>
              <a:rPr lang="en-IN" sz="1600" dirty="0"/>
              <a:t> dataset and identify patterns in doctor visits and illness by examining factors such as </a:t>
            </a:r>
            <a:r>
              <a:rPr lang="en-IN" sz="1600" b="1" dirty="0"/>
              <a:t>income, gender, reduced activity due to illness, health status, and health insurance coverage</a:t>
            </a:r>
            <a:r>
              <a:rPr lang="en-IN" sz="1600" dirty="0"/>
              <a:t>. The project aims to use data analysis and visualization techniques to understand relationships between these healthcare-related variables based on the provided dataset.</a:t>
            </a:r>
          </a:p>
          <a:p>
            <a:pPr>
              <a:lnSpc>
                <a:spcPct val="150000"/>
              </a:lnSpc>
            </a:pP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a:bodyPr>
          <a:lstStyle/>
          <a:p>
            <a:r>
              <a:rPr lang="en-US" sz="2800" dirty="0"/>
              <a:t>PROBLEM  STATEMENT</a:t>
            </a:r>
            <a:endParaRPr lang="en-IN" sz="2800"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400" y="805213"/>
            <a:ext cx="5516466" cy="482411"/>
          </a:xfrm>
        </p:spPr>
        <p:txBody>
          <a:bodyPr>
            <a:normAutofit fontScale="90000"/>
          </a:bodyPr>
          <a:lstStyle/>
          <a:p>
            <a:r>
              <a:rPr lang="en-GB" sz="3100"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55D013A1-C5FC-844A-8357-C9269A7B1535}"/>
              </a:ext>
            </a:extLst>
          </p:cNvPr>
          <p:cNvSpPr txBox="1"/>
          <p:nvPr/>
        </p:nvSpPr>
        <p:spPr>
          <a:xfrm>
            <a:off x="675957" y="1838131"/>
            <a:ext cx="6256688" cy="4555093"/>
          </a:xfrm>
          <a:prstGeom prst="rect">
            <a:avLst/>
          </a:prstGeom>
          <a:noFill/>
        </p:spPr>
        <p:txBody>
          <a:bodyPr wrap="square" rtlCol="0">
            <a:spAutoFit/>
          </a:bodyPr>
          <a:lstStyle/>
          <a:p>
            <a:r>
              <a:rPr lang="en-IN" sz="1600" dirty="0"/>
              <a:t>This project </a:t>
            </a:r>
            <a:r>
              <a:rPr lang="en-IN" sz="1600" dirty="0" err="1"/>
              <a:t>analyzes</a:t>
            </a:r>
            <a:r>
              <a:rPr lang="en-IN" sz="1600" dirty="0"/>
              <a:t> the Healthcare Analytics for Doctor Visits dataset to understand patterns in doctor visits, illness, income, gender, reduced activity due to illness, and health insurance coverage. The dataset contains 5,190 records and 13 variables.</a:t>
            </a:r>
          </a:p>
          <a:p>
            <a:endParaRPr lang="en-IN" sz="1600" dirty="0"/>
          </a:p>
          <a:p>
            <a:r>
              <a:rPr lang="en-IN" sz="1600" dirty="0"/>
              <a:t>The analysis includes counting people based on their number of illnesses, </a:t>
            </a:r>
            <a:r>
              <a:rPr lang="en-IN" sz="1600" dirty="0" err="1"/>
              <a:t>analyzing</a:t>
            </a:r>
            <a:r>
              <a:rPr lang="en-IN" sz="1600" dirty="0"/>
              <a:t> maximum, minimum, and medium income, comparing reduced activity days between males and females, checking missing values, and examining correlations between numerical variables. It also </a:t>
            </a:r>
            <a:r>
              <a:rPr lang="en-IN" sz="1600" dirty="0" err="1"/>
              <a:t>analyzes</a:t>
            </a:r>
            <a:r>
              <a:rPr lang="en-IN" sz="1600" dirty="0"/>
              <a:t> the relationship between income and hospital visits using a scatter plot, compares males and females affected by illness, and visualizes different health insurance categories using a pie chart.</a:t>
            </a:r>
          </a:p>
          <a:p>
            <a:endParaRPr lang="en-IN" sz="1600" dirty="0"/>
          </a:p>
          <a:p>
            <a:r>
              <a:rPr lang="en-IN" sz="1600" dirty="0"/>
              <a:t>The project uses Python, Pandas, Matplotlib, and Seaborn to perform the analysis and create meaningful visualizations based on the given healthcare dataset.</a:t>
            </a:r>
          </a:p>
          <a:p>
            <a:endParaRPr lang="en-IN"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lvl="0"/>
            <a:r>
              <a:rPr lang="en-IN" sz="1600" b="1" dirty="0"/>
              <a:t>Healthcare Analysts</a:t>
            </a:r>
            <a:r>
              <a:rPr lang="en-IN" sz="1600" dirty="0"/>
              <a:t> – to </a:t>
            </a:r>
            <a:r>
              <a:rPr lang="en-IN" sz="1600" dirty="0" err="1"/>
              <a:t>analyze</a:t>
            </a:r>
            <a:r>
              <a:rPr lang="en-IN" sz="1600" dirty="0"/>
              <a:t> doctor visits, illness, income, and healthcare patterns.</a:t>
            </a:r>
          </a:p>
          <a:p>
            <a:pPr lvl="0"/>
            <a:r>
              <a:rPr lang="en-IN" sz="1600" b="1" dirty="0"/>
              <a:t>Hospitals and Clinics</a:t>
            </a:r>
            <a:r>
              <a:rPr lang="en-IN" sz="1600" dirty="0"/>
              <a:t> – to understand patterns in patient visits and reduced activity due to illness.</a:t>
            </a:r>
          </a:p>
          <a:p>
            <a:pPr lvl="0"/>
            <a:r>
              <a:rPr lang="en-IN" sz="1600" b="1" dirty="0"/>
              <a:t>Healthcare Researchers</a:t>
            </a:r>
            <a:r>
              <a:rPr lang="en-IN" sz="1600" dirty="0"/>
              <a:t> – to study relationships between health, income, gender, and insurance coverage.</a:t>
            </a:r>
          </a:p>
          <a:p>
            <a:pPr lvl="0"/>
            <a:r>
              <a:rPr lang="en-IN" sz="1600" b="1" dirty="0"/>
              <a:t>Healthcare Management Teams</a:t>
            </a:r>
            <a:r>
              <a:rPr lang="en-IN" sz="1600" dirty="0"/>
              <a:t> – to support data-driven understanding of healthcare utilization.</a:t>
            </a:r>
          </a:p>
          <a:p>
            <a:pPr lvl="0"/>
            <a:r>
              <a:rPr lang="en-IN" sz="1600" b="1" dirty="0"/>
              <a:t>Students and Data Analysts</a:t>
            </a:r>
            <a:r>
              <a:rPr lang="en-IN" sz="1600" dirty="0"/>
              <a:t> – for learning and applying healthcare data analysis and visualization techniques.</a:t>
            </a:r>
          </a:p>
          <a:p>
            <a:pPr algn="just">
              <a:lnSpc>
                <a:spcPct val="150000"/>
              </a:lnSpc>
            </a:pPr>
            <a:endParaRPr lang="en-IN" sz="1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2800" dirty="0"/>
              <a:t>WHO ARE THE END USERS?</a:t>
            </a:r>
            <a:endParaRPr lang="en-IN" sz="28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138335"/>
            <a:ext cx="9027702" cy="2827175"/>
          </a:xfrm>
        </p:spPr>
        <p:txBody>
          <a:bodyPr>
            <a:normAutofit fontScale="77500" lnSpcReduction="20000"/>
          </a:bodyPr>
          <a:lstStyle/>
          <a:p>
            <a:r>
              <a:rPr lang="en-IN" sz="1800" b="1" dirty="0"/>
              <a:t>Technology Used</a:t>
            </a:r>
          </a:p>
          <a:p>
            <a:pPr lvl="0"/>
            <a:r>
              <a:rPr lang="en-IN" sz="1800" b="1" dirty="0"/>
              <a:t>Python</a:t>
            </a:r>
            <a:r>
              <a:rPr lang="en-IN" sz="1800" dirty="0"/>
              <a:t> – Data analysis and processing</a:t>
            </a:r>
          </a:p>
          <a:p>
            <a:pPr lvl="0"/>
            <a:r>
              <a:rPr lang="en-IN" sz="1800" b="1" dirty="0"/>
              <a:t>Pandas</a:t>
            </a:r>
            <a:r>
              <a:rPr lang="en-IN" sz="1800" dirty="0"/>
              <a:t> – Dataset handling and analysis</a:t>
            </a:r>
          </a:p>
          <a:p>
            <a:pPr lvl="0"/>
            <a:r>
              <a:rPr lang="en-IN" sz="1800" b="1" dirty="0"/>
              <a:t>NumPy</a:t>
            </a:r>
            <a:r>
              <a:rPr lang="en-IN" sz="1800" dirty="0"/>
              <a:t> – Numerical operations</a:t>
            </a:r>
          </a:p>
          <a:p>
            <a:pPr lvl="0"/>
            <a:r>
              <a:rPr lang="en-IN" sz="1800" b="1" dirty="0"/>
              <a:t>Matplotlib</a:t>
            </a:r>
            <a:r>
              <a:rPr lang="en-IN" sz="1800" dirty="0"/>
              <a:t> – Data visualization</a:t>
            </a:r>
          </a:p>
          <a:p>
            <a:pPr lvl="0"/>
            <a:r>
              <a:rPr lang="en-IN" sz="1800" b="1" dirty="0"/>
              <a:t>Seaborn</a:t>
            </a:r>
            <a:r>
              <a:rPr lang="en-IN" sz="1800" dirty="0"/>
              <a:t> – Heat maps and statistical visualizations</a:t>
            </a:r>
          </a:p>
          <a:p>
            <a:pPr lvl="0"/>
            <a:r>
              <a:rPr lang="en-IN" sz="1800" b="1" dirty="0"/>
              <a:t>Google </a:t>
            </a:r>
            <a:r>
              <a:rPr lang="en-IN" sz="1800" b="1" dirty="0" err="1"/>
              <a:t>Colab</a:t>
            </a:r>
            <a:r>
              <a:rPr lang="en-IN" sz="1800" dirty="0"/>
              <a:t> – Development and execution environment</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sz="2800"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sz="3600" dirty="0"/>
              <a:t>RESULTS</a:t>
            </a:r>
            <a:r>
              <a:rPr lang="en-GB" dirty="0"/>
              <a:t>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pic>
        <p:nvPicPr>
          <p:cNvPr id="2" name="Picture 1">
            <a:extLst>
              <a:ext uri="{FF2B5EF4-FFF2-40B4-BE49-F238E27FC236}">
                <a16:creationId xmlns:a16="http://schemas.microsoft.com/office/drawing/2014/main" id="{9F7E7C1A-C970-CB9F-C95E-F39065FA0154}"/>
              </a:ext>
            </a:extLst>
          </p:cNvPr>
          <p:cNvPicPr>
            <a:picLocks noChangeAspect="1"/>
          </p:cNvPicPr>
          <p:nvPr/>
        </p:nvPicPr>
        <p:blipFill>
          <a:blip r:embed="rId4"/>
          <a:stretch>
            <a:fillRect/>
          </a:stretch>
        </p:blipFill>
        <p:spPr>
          <a:xfrm>
            <a:off x="1" y="1078703"/>
            <a:ext cx="6596742" cy="4499141"/>
          </a:xfrm>
          <a:prstGeom prst="rect">
            <a:avLst/>
          </a:prstGeom>
        </p:spPr>
      </p:pic>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45720" y="1032983"/>
            <a:ext cx="45719" cy="45719"/>
          </a:xfrm>
        </p:spPr>
        <p:txBody>
          <a:bodyPr>
            <a:normAutofit fontScale="25000" lnSpcReduction="20000"/>
          </a:bodyPr>
          <a:lstStyle/>
          <a:p>
            <a:pPr marL="0" indent="0">
              <a:buNone/>
            </a:pPr>
            <a:endParaRPr lang="en-IN" dirty="0"/>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18C8A-6CE4-E349-BA45-098EFC4FDB7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4FEFD4A-4AE7-B0E3-FAD6-351C7462632E}"/>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291AC343-EB03-2767-AA60-E907FBFC4EC4}"/>
              </a:ext>
            </a:extLst>
          </p:cNvPr>
          <p:cNvSpPr>
            <a:spLocks noGrp="1"/>
          </p:cNvSpPr>
          <p:nvPr>
            <p:ph type="title"/>
          </p:nvPr>
        </p:nvSpPr>
        <p:spPr>
          <a:xfrm>
            <a:off x="675957" y="370589"/>
            <a:ext cx="2981643" cy="830997"/>
          </a:xfrm>
        </p:spPr>
        <p:txBody>
          <a:bodyPr>
            <a:normAutofit/>
          </a:bodyPr>
          <a:lstStyle/>
          <a:p>
            <a:r>
              <a:rPr lang="en-GB" sz="4000" dirty="0"/>
              <a:t>RESULTS</a:t>
            </a:r>
            <a:r>
              <a:rPr lang="en-GB" dirty="0"/>
              <a:t> </a:t>
            </a:r>
            <a:endParaRPr lang="en-IN" dirty="0"/>
          </a:p>
        </p:txBody>
      </p:sp>
      <p:sp>
        <p:nvSpPr>
          <p:cNvPr id="7" name="Text Placeholder 30">
            <a:extLst>
              <a:ext uri="{FF2B5EF4-FFF2-40B4-BE49-F238E27FC236}">
                <a16:creationId xmlns:a16="http://schemas.microsoft.com/office/drawing/2014/main" id="{7F9E89BE-C714-BB2D-2118-6AC0349B91F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59A7DE70-2B7D-1DA6-2D8A-E3509C4B7D03}"/>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489F4BFB-65ED-978E-0278-8E8F3C38DD1A}"/>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pic>
        <p:nvPicPr>
          <p:cNvPr id="2" name="Picture 1">
            <a:extLst>
              <a:ext uri="{FF2B5EF4-FFF2-40B4-BE49-F238E27FC236}">
                <a16:creationId xmlns:a16="http://schemas.microsoft.com/office/drawing/2014/main" id="{BB18E7ED-647D-7DD1-3903-E6CDD88BD68B}"/>
              </a:ext>
            </a:extLst>
          </p:cNvPr>
          <p:cNvPicPr>
            <a:picLocks noChangeAspect="1"/>
          </p:cNvPicPr>
          <p:nvPr/>
        </p:nvPicPr>
        <p:blipFill>
          <a:blip r:embed="rId4"/>
          <a:stretch>
            <a:fillRect/>
          </a:stretch>
        </p:blipFill>
        <p:spPr>
          <a:xfrm>
            <a:off x="320982" y="1275371"/>
            <a:ext cx="7040871" cy="4567650"/>
          </a:xfrm>
          <a:prstGeom prst="rect">
            <a:avLst/>
          </a:prstGeom>
        </p:spPr>
      </p:pic>
      <p:sp>
        <p:nvSpPr>
          <p:cNvPr id="10" name="Text Placeholder 1">
            <a:extLst>
              <a:ext uri="{FF2B5EF4-FFF2-40B4-BE49-F238E27FC236}">
                <a16:creationId xmlns:a16="http://schemas.microsoft.com/office/drawing/2014/main" id="{1DF80BE6-A328-958C-4079-A74CFEAA1D57}"/>
              </a:ext>
            </a:extLst>
          </p:cNvPr>
          <p:cNvSpPr>
            <a:spLocks noGrp="1"/>
          </p:cNvSpPr>
          <p:nvPr>
            <p:ph type="body" sz="quarter" idx="12"/>
          </p:nvPr>
        </p:nvSpPr>
        <p:spPr>
          <a:xfrm flipH="1">
            <a:off x="-83977" y="75578"/>
            <a:ext cx="83977" cy="45719"/>
          </a:xfrm>
        </p:spPr>
        <p:txBody>
          <a:bodyPr>
            <a:normAutofit fontScale="25000" lnSpcReduction="20000"/>
          </a:bodyPr>
          <a:lstStyle/>
          <a:p>
            <a:pPr marL="0" indent="0">
              <a:buNone/>
            </a:pPr>
            <a:endParaRPr lang="en-IN" dirty="0"/>
          </a:p>
        </p:txBody>
      </p:sp>
    </p:spTree>
    <p:extLst>
      <p:ext uri="{BB962C8B-B14F-4D97-AF65-F5344CB8AC3E}">
        <p14:creationId xmlns:p14="http://schemas.microsoft.com/office/powerpoint/2010/main" val="3756035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D8F7-9D6B-3D71-F392-8DC8DF69D9C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35E18C9-B542-C59D-4389-E49609A9769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9CFA4A1-68C3-7754-78FC-22447F4C1851}"/>
              </a:ext>
            </a:extLst>
          </p:cNvPr>
          <p:cNvSpPr>
            <a:spLocks noGrp="1"/>
          </p:cNvSpPr>
          <p:nvPr>
            <p:ph type="title"/>
          </p:nvPr>
        </p:nvSpPr>
        <p:spPr>
          <a:xfrm>
            <a:off x="675957" y="370589"/>
            <a:ext cx="2981643" cy="830997"/>
          </a:xfrm>
        </p:spPr>
        <p:txBody>
          <a:bodyPr>
            <a:normAutofit/>
          </a:bodyPr>
          <a:lstStyle/>
          <a:p>
            <a:r>
              <a:rPr lang="en-GB" sz="4000" dirty="0"/>
              <a:t>RESULTS</a:t>
            </a:r>
            <a:r>
              <a:rPr lang="en-GB" dirty="0"/>
              <a:t> </a:t>
            </a:r>
            <a:endParaRPr lang="en-IN" dirty="0"/>
          </a:p>
        </p:txBody>
      </p:sp>
      <p:sp>
        <p:nvSpPr>
          <p:cNvPr id="7" name="Text Placeholder 30">
            <a:extLst>
              <a:ext uri="{FF2B5EF4-FFF2-40B4-BE49-F238E27FC236}">
                <a16:creationId xmlns:a16="http://schemas.microsoft.com/office/drawing/2014/main" id="{EC161D30-8F8B-12D2-AF20-6B000CEE7686}"/>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B9A3500-F342-D9C3-9A9C-6A67E87CCCC8}"/>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CF465D2-3A49-11C1-F922-B3F3F89A7187}"/>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sp>
        <p:nvSpPr>
          <p:cNvPr id="10" name="Text Placeholder 1">
            <a:extLst>
              <a:ext uri="{FF2B5EF4-FFF2-40B4-BE49-F238E27FC236}">
                <a16:creationId xmlns:a16="http://schemas.microsoft.com/office/drawing/2014/main" id="{C28BBE8F-1404-4923-48DE-F57BB1674EC0}"/>
              </a:ext>
            </a:extLst>
          </p:cNvPr>
          <p:cNvSpPr>
            <a:spLocks noGrp="1"/>
          </p:cNvSpPr>
          <p:nvPr>
            <p:ph type="body" sz="quarter" idx="12"/>
          </p:nvPr>
        </p:nvSpPr>
        <p:spPr>
          <a:xfrm flipH="1">
            <a:off x="-93306" y="-45720"/>
            <a:ext cx="93306" cy="45719"/>
          </a:xfrm>
        </p:spPr>
        <p:txBody>
          <a:bodyPr>
            <a:normAutofit fontScale="25000" lnSpcReduction="20000"/>
          </a:bodyPr>
          <a:lstStyle/>
          <a:p>
            <a:pPr marL="0" indent="0">
              <a:buNone/>
            </a:pPr>
            <a:endParaRPr lang="en-IN" dirty="0"/>
          </a:p>
        </p:txBody>
      </p:sp>
      <p:pic>
        <p:nvPicPr>
          <p:cNvPr id="2" name="Picture 1">
            <a:extLst>
              <a:ext uri="{FF2B5EF4-FFF2-40B4-BE49-F238E27FC236}">
                <a16:creationId xmlns:a16="http://schemas.microsoft.com/office/drawing/2014/main" id="{1427AE04-E44B-B1E7-6742-D45DB54E703D}"/>
              </a:ext>
            </a:extLst>
          </p:cNvPr>
          <p:cNvPicPr>
            <a:picLocks noChangeAspect="1"/>
          </p:cNvPicPr>
          <p:nvPr/>
        </p:nvPicPr>
        <p:blipFill>
          <a:blip r:embed="rId4"/>
          <a:stretch>
            <a:fillRect/>
          </a:stretch>
        </p:blipFill>
        <p:spPr>
          <a:xfrm>
            <a:off x="147696" y="1275371"/>
            <a:ext cx="7616967" cy="5001778"/>
          </a:xfrm>
          <a:prstGeom prst="rect">
            <a:avLst/>
          </a:prstGeom>
        </p:spPr>
      </p:pic>
    </p:spTree>
    <p:extLst>
      <p:ext uri="{BB962C8B-B14F-4D97-AF65-F5344CB8AC3E}">
        <p14:creationId xmlns:p14="http://schemas.microsoft.com/office/powerpoint/2010/main" val="450903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62FFE-4768-926A-3276-75794A54BE0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187317-B10A-A111-06EB-4F7F0DA0529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D083233-084D-7BD2-C6FD-56C846EB3562}"/>
              </a:ext>
            </a:extLst>
          </p:cNvPr>
          <p:cNvSpPr>
            <a:spLocks noGrp="1"/>
          </p:cNvSpPr>
          <p:nvPr>
            <p:ph type="title"/>
          </p:nvPr>
        </p:nvSpPr>
        <p:spPr>
          <a:xfrm>
            <a:off x="675957" y="370589"/>
            <a:ext cx="2981643" cy="830997"/>
          </a:xfrm>
        </p:spPr>
        <p:txBody>
          <a:bodyPr>
            <a:normAutofit/>
          </a:bodyPr>
          <a:lstStyle/>
          <a:p>
            <a:r>
              <a:rPr lang="en-GB" sz="4000" dirty="0"/>
              <a:t>RESULTS</a:t>
            </a:r>
            <a:r>
              <a:rPr lang="en-GB" dirty="0"/>
              <a:t> </a:t>
            </a:r>
            <a:endParaRPr lang="en-IN" dirty="0"/>
          </a:p>
        </p:txBody>
      </p:sp>
      <p:sp>
        <p:nvSpPr>
          <p:cNvPr id="7" name="Text Placeholder 30">
            <a:extLst>
              <a:ext uri="{FF2B5EF4-FFF2-40B4-BE49-F238E27FC236}">
                <a16:creationId xmlns:a16="http://schemas.microsoft.com/office/drawing/2014/main" id="{AA1F741D-F55E-84CE-3E76-AD8C84049B43}"/>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1C48DCD-75DE-9B9A-D9F4-BEF85523705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0AF7B417-9548-E840-2E9F-7582CF609951}"/>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sp>
        <p:nvSpPr>
          <p:cNvPr id="10" name="Text Placeholder 1">
            <a:extLst>
              <a:ext uri="{FF2B5EF4-FFF2-40B4-BE49-F238E27FC236}">
                <a16:creationId xmlns:a16="http://schemas.microsoft.com/office/drawing/2014/main" id="{5AB46072-2B79-8ED5-9A5B-4F2E329905C1}"/>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2" name="Picture 1">
            <a:extLst>
              <a:ext uri="{FF2B5EF4-FFF2-40B4-BE49-F238E27FC236}">
                <a16:creationId xmlns:a16="http://schemas.microsoft.com/office/drawing/2014/main" id="{EBF431BF-285E-FCB8-8490-236D92222E8E}"/>
              </a:ext>
            </a:extLst>
          </p:cNvPr>
          <p:cNvPicPr>
            <a:picLocks noChangeAspect="1"/>
          </p:cNvPicPr>
          <p:nvPr/>
        </p:nvPicPr>
        <p:blipFill>
          <a:blip r:embed="rId4"/>
          <a:stretch>
            <a:fillRect/>
          </a:stretch>
        </p:blipFill>
        <p:spPr>
          <a:xfrm>
            <a:off x="505657" y="1403946"/>
            <a:ext cx="7680073" cy="5164494"/>
          </a:xfrm>
          <a:prstGeom prst="rect">
            <a:avLst/>
          </a:prstGeom>
        </p:spPr>
      </p:pic>
    </p:spTree>
    <p:extLst>
      <p:ext uri="{BB962C8B-B14F-4D97-AF65-F5344CB8AC3E}">
        <p14:creationId xmlns:p14="http://schemas.microsoft.com/office/powerpoint/2010/main" val="954590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A2EF4-9AA3-CA97-9B3B-5486DDC2BE8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68A4580-F8E6-FB25-4296-D0C90C49B9D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87D587B1-7674-5E47-1A0E-DC8A2F97482E}"/>
              </a:ext>
            </a:extLst>
          </p:cNvPr>
          <p:cNvSpPr>
            <a:spLocks noGrp="1"/>
          </p:cNvSpPr>
          <p:nvPr>
            <p:ph type="title"/>
          </p:nvPr>
        </p:nvSpPr>
        <p:spPr>
          <a:xfrm>
            <a:off x="675957" y="370589"/>
            <a:ext cx="2981643" cy="830997"/>
          </a:xfrm>
        </p:spPr>
        <p:txBody>
          <a:bodyPr>
            <a:normAutofit/>
          </a:bodyPr>
          <a:lstStyle/>
          <a:p>
            <a:r>
              <a:rPr lang="en-GB" sz="4000" dirty="0"/>
              <a:t>RESULTS</a:t>
            </a:r>
            <a:r>
              <a:rPr lang="en-GB" dirty="0"/>
              <a:t> </a:t>
            </a:r>
            <a:endParaRPr lang="en-IN" dirty="0"/>
          </a:p>
        </p:txBody>
      </p:sp>
      <p:sp>
        <p:nvSpPr>
          <p:cNvPr id="7" name="Text Placeholder 30">
            <a:extLst>
              <a:ext uri="{FF2B5EF4-FFF2-40B4-BE49-F238E27FC236}">
                <a16:creationId xmlns:a16="http://schemas.microsoft.com/office/drawing/2014/main" id="{D15070FF-C073-2300-9C8C-29D23339CE4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9BF5B36D-5AA6-5728-7C3D-B151BAE854D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0DBDA032-52B5-6CE5-62F0-A7E6E7E7C319}"/>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sp>
        <p:nvSpPr>
          <p:cNvPr id="10" name="Text Placeholder 1">
            <a:extLst>
              <a:ext uri="{FF2B5EF4-FFF2-40B4-BE49-F238E27FC236}">
                <a16:creationId xmlns:a16="http://schemas.microsoft.com/office/drawing/2014/main" id="{37BF452A-383B-C14E-A6EE-D3052F52CA6F}"/>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2" name="Picture 1">
            <a:extLst>
              <a:ext uri="{FF2B5EF4-FFF2-40B4-BE49-F238E27FC236}">
                <a16:creationId xmlns:a16="http://schemas.microsoft.com/office/drawing/2014/main" id="{E5A53B53-6ED7-9409-DB02-A7A6F5993368}"/>
              </a:ext>
            </a:extLst>
          </p:cNvPr>
          <p:cNvPicPr>
            <a:picLocks noChangeAspect="1"/>
          </p:cNvPicPr>
          <p:nvPr/>
        </p:nvPicPr>
        <p:blipFill>
          <a:blip r:embed="rId4"/>
          <a:stretch>
            <a:fillRect/>
          </a:stretch>
        </p:blipFill>
        <p:spPr>
          <a:xfrm>
            <a:off x="422959" y="1343234"/>
            <a:ext cx="6556261" cy="4297689"/>
          </a:xfrm>
          <a:prstGeom prst="rect">
            <a:avLst/>
          </a:prstGeom>
        </p:spPr>
      </p:pic>
    </p:spTree>
    <p:extLst>
      <p:ext uri="{BB962C8B-B14F-4D97-AF65-F5344CB8AC3E}">
        <p14:creationId xmlns:p14="http://schemas.microsoft.com/office/powerpoint/2010/main" val="4129258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CC611-D804-83DF-0370-1148A2A471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C4673F9-A710-6E4F-E16D-C8E06959EBD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8B06EB7-98F9-C80F-E1D7-61DCC960E760}"/>
              </a:ext>
            </a:extLst>
          </p:cNvPr>
          <p:cNvSpPr>
            <a:spLocks noGrp="1"/>
          </p:cNvSpPr>
          <p:nvPr>
            <p:ph type="title"/>
          </p:nvPr>
        </p:nvSpPr>
        <p:spPr>
          <a:xfrm>
            <a:off x="675957" y="370589"/>
            <a:ext cx="2981643" cy="830997"/>
          </a:xfrm>
        </p:spPr>
        <p:txBody>
          <a:bodyPr>
            <a:normAutofit/>
          </a:bodyPr>
          <a:lstStyle/>
          <a:p>
            <a:r>
              <a:rPr lang="en-GB" sz="3200" dirty="0" err="1"/>
              <a:t>Github</a:t>
            </a:r>
            <a:r>
              <a:rPr lang="en-GB" sz="3200" dirty="0"/>
              <a:t> link </a:t>
            </a:r>
            <a:endParaRPr lang="en-IN" sz="3200" dirty="0"/>
          </a:p>
        </p:txBody>
      </p:sp>
      <p:sp>
        <p:nvSpPr>
          <p:cNvPr id="7" name="Text Placeholder 30">
            <a:extLst>
              <a:ext uri="{FF2B5EF4-FFF2-40B4-BE49-F238E27FC236}">
                <a16:creationId xmlns:a16="http://schemas.microsoft.com/office/drawing/2014/main" id="{144E0634-BEB3-1E3C-FC86-9C7389448093}"/>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AE5B414C-E9AF-41E3-7314-C95EBF4DE8C8}"/>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D23C62D7-58BE-1E8E-0265-19A195401E3E}"/>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sp>
        <p:nvSpPr>
          <p:cNvPr id="10" name="Text Placeholder 1">
            <a:extLst>
              <a:ext uri="{FF2B5EF4-FFF2-40B4-BE49-F238E27FC236}">
                <a16:creationId xmlns:a16="http://schemas.microsoft.com/office/drawing/2014/main" id="{0DC1729E-340A-FD6B-E663-379EC7A40A3C}"/>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spTree>
    <p:extLst>
      <p:ext uri="{BB962C8B-B14F-4D97-AF65-F5344CB8AC3E}">
        <p14:creationId xmlns:p14="http://schemas.microsoft.com/office/powerpoint/2010/main" val="3648499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596</TotalTime>
  <Words>400</Words>
  <Application>Microsoft Office PowerPoint</Application>
  <PresentationFormat>Widescreen</PresentationFormat>
  <Paragraphs>44</Paragraphs>
  <Slides>12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Trebuchet MS</vt:lpstr>
      <vt:lpstr>Wingdings</vt:lpstr>
      <vt:lpstr>Wingdings 3</vt:lpstr>
      <vt:lpstr>Facet</vt:lpstr>
      <vt:lpstr>Healthcare Analytics Doctor Visits</vt:lpstr>
      <vt:lpstr>PROBLEM  STATEMENT</vt:lpstr>
      <vt:lpstr>Project Description  </vt:lpstr>
      <vt:lpstr>WHO ARE THE END USERS?</vt:lpstr>
      <vt:lpstr>Technology Used</vt:lpstr>
      <vt:lpstr>RESULTS </vt:lpstr>
      <vt:lpstr>RESULTS </vt:lpstr>
      <vt:lpstr>RESULTS </vt:lpstr>
      <vt:lpstr>RESULTS </vt:lpstr>
      <vt:lpstr>RESULTS </vt:lpstr>
      <vt:lpstr>Github link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Abhishek Pardeshi</cp:lastModifiedBy>
  <cp:revision>74</cp:revision>
  <dcterms:created xsi:type="dcterms:W3CDTF">2021-07-11T13:13:15Z</dcterms:created>
  <dcterms:modified xsi:type="dcterms:W3CDTF">2026-10-04T11:52:37Z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